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6858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66160"/>
            <a:ext cx="10360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BudgetFlow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C4B5FD"/>
                </a:solidFill>
                <a:latin typeface="Segoe UI"/>
              </a:rPr>
              <a:t>Plateforme de Gestion Budgétaire Intelligente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1184" y="525780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Présentation du projet — de bout en 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81328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Contexte &amp;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48256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48256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La solution BudgetFlow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15184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15184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Architecture 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82112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Rôles &amp; circuit de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49040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Tableau de 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15968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15968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Gestion des subventions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82896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82896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Planification budgétaire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9824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49824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Suivi budgétaire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81328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481328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Engagements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48256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048256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Paiements &amp; échelonnés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15184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615184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Trésorerie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82112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182112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Préfinancements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749040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Prêts aux employés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15968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15968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Rapports &amp; exports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882896"/>
            <a:ext cx="731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4B5FD"/>
                </a:solidFill>
                <a:latin typeface="Segoe UI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882896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DE3F4"/>
                </a:solidFill>
                <a:latin typeface="Segoe UI"/>
              </a:rPr>
              <a:t>Sécurité, UX &amp; perspectives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Pourquoi BudgetFlow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Gestion des subventions et budgets dispersée dans des fichiers Excel : erreurs et doublons.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Circuit de validation manuel, lent et peu traçable entre les responsables.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Difficulté à suivre en temps réel l'engagement, le décaissement et le solde disponible.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Paiements échelonnés et trésorerie difficiles à rapprocher des lignes budgétaires.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Manque de tableaux de bord consolidés pour le pilotage et le reporting aux bailleurs.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02 — 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Une plateforme unique, du budget au décaissement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Centralisation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Subventions, lignes, engagements, paiements et trésorerie au même endroit.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Traçabilité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Circuit de validation à signatures et historique complet des opérations.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69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Temps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Engagement, décaissement, reste à payer et progression mis à jour instantanément.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84048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069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Pilotage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Tableaux de bord, taux d'exécution et exports PDF / Excel pour les bailleurs.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03 — TECHNOLOGIE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Architecture technique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414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Interface modulaire et typée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STYLE /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414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Tailwind CSS + Lucide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260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Responsive, mode clair/sombre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414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Développement et build rapides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044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702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Supabase (PostgreSQL)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Base de données temps réel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9044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2702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Auth + RLS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7548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Authentification &amp; règles d'accès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033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9044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702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jsPDF · html2canvas · 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548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Génération PDF et exports Excel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04 — GOUVERNANCE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Rôles &amp; circuit de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258568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25856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278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Coordinateur de la Subvention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Initie et appose la 1ʳᵉ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7432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9659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06440" y="2258568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25856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278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Comptable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57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Contrôle et appose la 2ᵉ 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7432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9659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2258568"/>
            <a:ext cx="822960" cy="822960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25856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278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Coordonnateur National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6576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7"/>
                </a:solidFill>
                <a:latin typeface="Segoe UI"/>
              </a:rPr>
              <a:t>Validation finale (signature)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400" b="0">
                <a:solidFill>
                  <a:srgbClr val="DDE3F4"/>
                </a:solidFill>
                <a:latin typeface="Segoe UI"/>
              </a:rPr>
              <a:t>Un accès rapide « À signer » filtre pour chaque signataire les éléments en attente de SA signature.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400" b="0">
                <a:solidFill>
                  <a:srgbClr val="DDE3F4"/>
                </a:solidFill>
                <a:latin typeface="Segoe UI"/>
              </a:rPr>
              <a:t>Le même circuit s'applique aux engagements, paiements, préfinancements et prêts aux employés.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05 — 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Tableau de bord budgétaire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Vue d'ensemble : budget total, engagé, taux d'exécution, disponible.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Indicateurs consolidés et subventions actives.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Le décaissé cumule paiements directs et part déjà payée des échelonnés.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Répartition par ligne budgétaire.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tableau_de_b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248624"/>
            <a:ext cx="7598664" cy="3229432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06 — FINANCEMENT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Gestion des subventions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Subvention : bailleur, référence, période, devise (XOF/FCFA).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Indicateurs : notifié, engagé, décaissé, en cours, reste, non engagé, progression.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Badge « échelonné » et taux d'engagement / décaissement.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Compte bancaire associé et solde.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subven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153641"/>
            <a:ext cx="7598664" cy="3419398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07 — PLANIFICATION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Planification budgétaire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Lignes et sous-lignes budgétaires structurées par code.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Budget planifié, budget notifié et taux de notification.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Création rapide de lignes / sous-lignes.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Export PDF de la planification.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plan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502704"/>
            <a:ext cx="7598664" cy="2721271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08 — EXÉCUTION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Suivi budgétaire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Suivi temps réel : notifié, engagé, décaissé (échelonné + direct).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En cours de paiement, reste à payer, solde disponible, progression globale.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Section « Paiements échelonnés actifs » avec progression par facture.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Exports PDF et Excel (page ou complet).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suivi_budget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317487"/>
            <a:ext cx="7598664" cy="3091706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09 — ENGAGEMENTS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Gestion des engagements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Fiche complète : fournisseur, facture, ligne, sous-ligne, montant.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Circuit à signatures — statuts En attente / Approuvé / Rejeté.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En-tête : montant total approuvé vs rejeté, en attente.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Accès « À signer », exports PDF / Excel.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engag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186885"/>
            <a:ext cx="7598664" cy="3352910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10 — PAIEMENTS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Paiements &amp; paiements échelonnés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Paiements directs ou échelonnés en plusieurs versements.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Cartes de statut : disponibles, en attente, approuvés, en cours, payés.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Chaque versement : montant, date, mode, référence unique.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Mise à jour en temps réel, sans recharger la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pai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165514"/>
            <a:ext cx="7598664" cy="3395652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11 — TRÉSORERIE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État de trésorerie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Solde total des banques et montant à décaisser.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Décaissement des paiements (complets ou échelonnés).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Compte bancaire de la subvention et historique des transactions.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Export PDF et ajout de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_tresore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153641"/>
            <a:ext cx="7598664" cy="3419398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12 — AVANCES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Préfinancements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Avances de trésorerie et suivi des remboursements.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Indicateurs : total préfinancements, remboursés, reste à rembourser.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Circuit de validation à signatures et accès « À signer 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Filtres par statut, objet et date ; rattachement à la subvention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_prefinanc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507453"/>
            <a:ext cx="7598664" cy="2711773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13 — PRÊTS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Prêts aux employés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Prêts sur compte bancaire et suivi des remboursements.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Indicateurs : total prêts, montant total prêté, remboursés, en cours.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Décaissement et échéancier de remboursement par employé.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Même circuit de validation à signatures et accès « À signer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_emplo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269995"/>
            <a:ext cx="7598664" cy="3186689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14 —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Rapports budgétaires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971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Analyses détaillées et statistiques financières.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Filtres : type de rapport, période, recherche fournisseur.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Synthèse : budget total, engagé, payé, disponible.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350" b="0">
                <a:solidFill>
                  <a:srgbClr val="DDE3F4"/>
                </a:solidFill>
                <a:latin typeface="Segoe UI"/>
              </a:rPr>
              <a:t>Performance par subvention et export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508760"/>
            <a:ext cx="78181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B3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7818120" cy="365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2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7818120" cy="1097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05072" y="1636776"/>
            <a:ext cx="100584" cy="100584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63677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1636776"/>
            <a:ext cx="100584" cy="100584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rap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163139"/>
            <a:ext cx="7598664" cy="3400402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15 — EXPÉRIENCE &amp;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Points forts transverses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29971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99339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Mode clair / sombre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9572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3C7"/>
                </a:solidFill>
                <a:latin typeface="Segoe UI"/>
              </a:rPr>
              <a:t>Thème professionnel, persistant, sur toute la plateforme.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11112" y="229971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99339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Accès rapide « À signer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9572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3C7"/>
                </a:solidFill>
                <a:latin typeface="Segoe UI"/>
              </a:rPr>
              <a:t>Chaque signataire retrouve en 1 clic ce qui l'attend.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71703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341071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1304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3C7"/>
                </a:solidFill>
                <a:latin typeface="Segoe UI"/>
              </a:rPr>
              <a:t>Alertes de signatures en attente et suivi des échéances.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4612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11112" y="371703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41071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Sécurité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81304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3C7"/>
                </a:solidFill>
                <a:latin typeface="Segoe UI"/>
              </a:rPr>
              <a:t>Auth Supabase, rôles &amp; permissions, règles d'accès (RLS).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6344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513435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82803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Temps réel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23036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3C7"/>
                </a:solidFill>
                <a:latin typeface="Segoe UI"/>
              </a:rPr>
              <a:t>Les données se mettent à jour sans recharger la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66344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1112" y="5134356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82803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Multi-devise &amp; exports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23036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3C7"/>
                </a:solidFill>
                <a:latin typeface="Segoe UI"/>
              </a:rPr>
              <a:t>XOF/FCFA, EUR… et documents PDF / Excel.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01184" y="82296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Bénéfices clés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Gain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Saisie, validation et décaissement centralisés.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2677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Fiabilité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Contrôles automatiques et cohérence des montants.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199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142231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Transparence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Traçabilité complète : qui, quoi, quand.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86199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81E3E"/>
          </a:solidFill>
          <a:ln w="12700">
            <a:solidFill>
              <a:srgbClr val="3A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142231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Pilotage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634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DE3F4"/>
                </a:solidFill>
                <a:latin typeface="Segoe UI"/>
              </a:rPr>
              <a:t>Indicateurs temps réel pour décider et rendre compte.</a:t>
            </a:r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B5FD"/>
                </a:solidFill>
                <a:latin typeface="Segoe UI"/>
              </a:rPr>
              <a:t>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315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Rapports analytiques avancés et graphiques interactifs.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Notifications par e-mail et rappels automatiques d'échéances.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Application mobile pour signer et consulter en déplacement.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Intégrations bancaires et rapprochements automatisés.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C4B5FD"/>
                </a:solidFill>
                <a:latin typeface="Segoe UI"/>
              </a:rPr>
              <a:t>●  </a:t>
            </a:r>
            <a:r>
              <a:rPr sz="1500" b="0">
                <a:solidFill>
                  <a:srgbClr val="DDE3F4"/>
                </a:solidFill>
                <a:latin typeface="Segoe UI"/>
              </a:rPr>
              <a:t>Journal d'audit détaillé et gestion fine des permissions.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8251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36422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B9C0E0"/>
                </a:solidFill>
                <a:latin typeface="Segoe UI"/>
              </a:rPr>
              <a:t>BudgetFlow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6422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7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23444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1188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4B5FD"/>
                </a:solidFill>
                <a:latin typeface="Segoe UI"/>
              </a:rPr>
              <a:t>BudgetFlow — Gérez vos budgets avec précision et sérénité.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1184" y="521208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